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ome_full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143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NYC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03504" y="185623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AF8F5"/>
                </a:solidFill>
              </a:rPr>
              <a:t>AI care plans for multilingual families after hospital discharge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621792" y="2980944"/>
            <a:ext cx="1600200" cy="347472"/>
          </a:xfrm>
          <a:prstGeom prst="roundRect">
            <a:avLst>
              <a:gd name="adj" fmla="val 34211"/>
            </a:avLst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054096"/>
            <a:ext cx="13807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3B3D"/>
                </a:solidFill>
              </a:rPr>
              <a:t>AI Software Track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359152" y="2980944"/>
            <a:ext cx="2331720" cy="347472"/>
          </a:xfrm>
          <a:prstGeom prst="roundRect">
            <a:avLst>
              <a:gd name="adj" fmla="val 34211"/>
            </a:avLst>
          </a:prstGeom>
          <a:solidFill>
            <a:srgbClr val="F0D680"/>
          </a:solidFill>
          <a:ln w="12700">
            <a:solidFill>
              <a:srgbClr val="F0D680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3054096"/>
            <a:ext cx="21122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3B3D"/>
                </a:solidFill>
              </a:rPr>
              <a:t>AI for Health &amp; Public Good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61447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DEA"/>
                </a:solidFill>
              </a:rPr>
              <a:t>Pirtom Shil Supta • Rahat Hossain • Israel Pina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NYC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2</a:t>
            </a:r>
            <a:endParaRPr lang="en-US" sz="800" dirty="0"/>
          </a:p>
        </p:txBody>
      </p:sp>
      <p:pic>
        <p:nvPicPr>
          <p:cNvPr id="4" name="Image 0" descr="/mnt/data/problem_right_t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85216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63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discharge gap starts at the hospital door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30352" y="13075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Families leave with instructions they are responsible for—but may not understand.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" y="1828800"/>
            <a:ext cx="52578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240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6F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9848" y="2249424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32B"/>
                </a:solidFill>
              </a:rPr>
              <a:t>Discharge paperwork is often long, technical, and hard to scan.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29077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6F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9848" y="2916936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32B"/>
                </a:solidFill>
              </a:rPr>
              <a:t>Caregivers may not speak English or have medical training.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35753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6F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9848" y="3584448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32B"/>
                </a:solidFill>
              </a:rPr>
              <a:t>Medication timing, red flags, and follow-up steps can be missed.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22960" y="42428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6F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69848" y="4251960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32B"/>
                </a:solidFill>
              </a:rPr>
              <a:t>The result is stress, confusion, and avoidable risk at home.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22960" y="5285232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063B3D"/>
          </a:solidFill>
          <a:ln w="12700">
            <a:solidFill>
              <a:srgbClr val="063B3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5468112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Our focus: turn paperwork into a caregiver-ready care plan.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NYC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CUNY student caregiver needs clarity—fast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097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The product is built around one realistic, local user story.</a:t>
            </a:r>
            <a:endParaRPr lang="en-US" sz="1350" dirty="0"/>
          </a:p>
        </p:txBody>
      </p:sp>
      <p:pic>
        <p:nvPicPr>
          <p:cNvPr id="6" name="Image 0" descr="/mnt/data/home_mid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6177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50992" y="1783080"/>
            <a:ext cx="5440680" cy="3337560"/>
          </a:xfrm>
          <a:prstGeom prst="roundRect">
            <a:avLst>
              <a:gd name="adj" fmla="val 4932"/>
            </a:avLst>
          </a:prstGeom>
          <a:solidFill>
            <a:srgbClr val="F3FBF9"/>
          </a:solidFill>
          <a:ln w="12700">
            <a:solidFill>
              <a:srgbClr val="BDE2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2121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B6A8"/>
                </a:solidFill>
              </a:rPr>
              <a:t>USER JOURNEY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89320" y="2450592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3B3D"/>
                </a:solidFill>
              </a:rPr>
              <a:t>A CUNY student caring for their grandmother after a hospital visit needs a translated and simplified care plan so they can understand medications, warning signs, and follow-up appointments without medical training.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989320" y="4069080"/>
            <a:ext cx="4389120" cy="0"/>
          </a:xfrm>
          <a:prstGeom prst="line">
            <a:avLst/>
          </a:prstGeom>
          <a:noFill/>
          <a:ln w="25400">
            <a:solidFill>
              <a:srgbClr val="4CB6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437083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52616B"/>
                </a:solidFill>
              </a:rPr>
              <a:t>The winning demo should make this story obvious in 30 seconds.</a:t>
            </a:r>
            <a:endParaRPr lang="en-US" sz="1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3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320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B6A8"/>
                </a:solidFill>
              </a:rPr>
              <a:t>Handoff NYC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discharge PDF to care plan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0352" y="14630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D8F4F0"/>
                </a:solidFill>
              </a:rPr>
              <a:t>A single AI workflow transforms confusing hospital paperwork into an accessible, multilingual, voice-enabled plan.</a:t>
            </a:r>
            <a:endParaRPr lang="en-US" sz="1650" dirty="0"/>
          </a:p>
        </p:txBody>
      </p:sp>
      <p:pic>
        <p:nvPicPr>
          <p:cNvPr id="6" name="Image 0" descr="/mnt/data/workflow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731520"/>
            <a:ext cx="5989320" cy="516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" y="2468880"/>
            <a:ext cx="384048" cy="384048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255117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3B3D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" y="25237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Upload a synthetic discharge document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384048" cy="384048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3264408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3B3D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3000" y="32369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AI extracts meds, instructions, red flags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21792" y="3895344"/>
            <a:ext cx="384048" cy="384048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39776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3B3D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" y="39502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Translate + simplify for the caregiver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21792" y="4608576"/>
            <a:ext cx="384048" cy="384048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4690872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3B3D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43000" y="46634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Play audio briefing + show review flags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NYC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MVP: small enough to finish, strong enough to win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097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P0 features are focused on the core demo flow.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3063240" cy="1417320"/>
          </a:xfrm>
          <a:prstGeom prst="roundRect">
            <a:avLst>
              <a:gd name="adj" fmla="val 9677"/>
            </a:avLst>
          </a:prstGeom>
          <a:solidFill>
            <a:srgbClr val="F3FBF9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36192" y="2011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3B3D"/>
                </a:solidFill>
              </a:rPr>
              <a:t>Upload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36192" y="2423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Synthetic discharge PDF or image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0632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66360" y="2011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3B3D"/>
                </a:solidFill>
              </a:rPr>
              <a:t>Extract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66360" y="2423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Medications, care tasks, red flags, contacts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1783080"/>
            <a:ext cx="3063240" cy="1417320"/>
          </a:xfrm>
          <a:prstGeom prst="roundRect">
            <a:avLst>
              <a:gd name="adj" fmla="val 9677"/>
            </a:avLst>
          </a:prstGeom>
          <a:solidFill>
            <a:srgbClr val="F3FBF9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0216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96528" y="2011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3B3D"/>
                </a:solidFill>
              </a:rPr>
              <a:t>Translate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96528" y="2423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At least 2–3 demo languages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3895344"/>
            <a:ext cx="30632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1832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36192" y="4123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3B3D"/>
                </a:solidFill>
              </a:rPr>
              <a:t>Audio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36192" y="453542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Spoken caregiver briefing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3895344"/>
            <a:ext cx="3063240" cy="1417320"/>
          </a:xfrm>
          <a:prstGeom prst="roundRect">
            <a:avLst>
              <a:gd name="adj" fmla="val 9677"/>
            </a:avLst>
          </a:prstGeom>
          <a:solidFill>
            <a:srgbClr val="F3FBF9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66360" y="4123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3B3D"/>
                </a:solidFill>
              </a:rPr>
              <a:t>Safety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66360" y="453542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Confidence labels + review flags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73568" y="3895344"/>
            <a:ext cx="30632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02168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796528" y="4123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3B3D"/>
                </a:solidFill>
              </a:rPr>
              <a:t>Reminders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796528" y="453542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Medication and follow-up checklist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NYC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doing work the user cannot do manually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097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The system is more than a chatbot: it chains multiple AI tasks into one care workflow.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4612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3911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B6A8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0208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63B3D"/>
                </a:solidFill>
              </a:rPr>
              <a:t>Document understanding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80160" y="2404872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Read PDF/image and locate relevant sections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24612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03911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B6A8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0208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63B3D"/>
                </a:solidFill>
              </a:rPr>
              <a:t>Structured extraction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983480" y="2404872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Return care plan as predictable JSON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24612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03911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B6A8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20208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63B3D"/>
                </a:solidFill>
              </a:rPr>
              <a:t>Plain-language rewrite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86800" y="2404872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Convert jargon into caregiver-friendly text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593592"/>
            <a:ext cx="324612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7581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B6A8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7398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63B3D"/>
                </a:solidFill>
              </a:rPr>
              <a:t>Translation + speech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280160" y="4123944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Make text accessible across language and literacy barriers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3593592"/>
            <a:ext cx="324612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26280" y="37581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B6A8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7398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63B3D"/>
                </a:solidFill>
              </a:rPr>
              <a:t>Confidence + flags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983480" y="4123944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6B"/>
                </a:solidFill>
              </a:rPr>
              <a:t>Expose uncertainty and ask for human review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01000" y="5376672"/>
            <a:ext cx="3182112" cy="475488"/>
          </a:xfrm>
          <a:prstGeom prst="roundRect">
            <a:avLst>
              <a:gd name="adj" fmla="val 15385"/>
            </a:avLst>
          </a:prstGeom>
          <a:solidFill>
            <a:srgbClr val="063B3D"/>
          </a:solidFill>
          <a:ln w="12700">
            <a:solidFill>
              <a:srgbClr val="063B3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5522976"/>
            <a:ext cx="2816352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Guardrail: explain existing instructions, never invent medical advice.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3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7</a:t>
            </a:r>
            <a:endParaRPr lang="en-US" sz="800" dirty="0"/>
          </a:p>
        </p:txBody>
      </p:sp>
      <p:pic>
        <p:nvPicPr>
          <p:cNvPr id="3" name="Image 0" descr="/mnt/data/dashboard_full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7132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Responsible AI is a product feature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66928" y="13258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8F4F0"/>
                </a:solidFill>
              </a:rPr>
              <a:t>Handoff NYC is designed for public-interest technology: equity, transparency, accessibility, and human oversight.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58368" y="2267712"/>
            <a:ext cx="4526280" cy="530352"/>
          </a:xfrm>
          <a:prstGeom prst="roundRect">
            <a:avLst>
              <a:gd name="adj" fmla="val 17241"/>
            </a:avLst>
          </a:prstGeom>
          <a:solidFill>
            <a:srgbClr val="063B3D">
              <a:alpha val="95000"/>
            </a:srgbClr>
          </a:solidFill>
          <a:ln w="12700">
            <a:solidFill>
              <a:srgbClr val="4CB6A8">
                <a:alpha val="7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38658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Privacy first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468880" y="2386584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F7F5"/>
                </a:solidFill>
              </a:rPr>
              <a:t>Use only synthetic demo documents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8368" y="3054096"/>
            <a:ext cx="4526280" cy="530352"/>
          </a:xfrm>
          <a:prstGeom prst="roundRect">
            <a:avLst>
              <a:gd name="adj" fmla="val 17241"/>
            </a:avLst>
          </a:prstGeom>
          <a:solidFill>
            <a:srgbClr val="063B3D">
              <a:alpha val="95000"/>
            </a:srgbClr>
          </a:solidFill>
          <a:ln w="12700">
            <a:solidFill>
              <a:srgbClr val="4CB6A8">
                <a:alpha val="7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17296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Human review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468880" y="317296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F7F5"/>
                </a:solidFill>
              </a:rPr>
              <a:t>Low-confidence items are flagged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3840480"/>
            <a:ext cx="4526280" cy="530352"/>
          </a:xfrm>
          <a:prstGeom prst="roundRect">
            <a:avLst>
              <a:gd name="adj" fmla="val 17241"/>
            </a:avLst>
          </a:prstGeom>
          <a:solidFill>
            <a:srgbClr val="063B3D">
              <a:alpha val="95000"/>
            </a:srgbClr>
          </a:solidFill>
          <a:ln w="12700">
            <a:solidFill>
              <a:srgbClr val="4CB6A8">
                <a:alpha val="7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959352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Transparency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468880" y="395935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F7F5"/>
                </a:solidFill>
              </a:rPr>
              <a:t>Show what came from the document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" y="4626864"/>
            <a:ext cx="4526280" cy="530352"/>
          </a:xfrm>
          <a:prstGeom prst="roundRect">
            <a:avLst>
              <a:gd name="adj" fmla="val 17241"/>
            </a:avLst>
          </a:prstGeom>
          <a:solidFill>
            <a:srgbClr val="063B3D">
              <a:alpha val="95000"/>
            </a:srgbClr>
          </a:solidFill>
          <a:ln w="12700">
            <a:solidFill>
              <a:srgbClr val="4CB6A8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74573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Accessibility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468880" y="474573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F7F5"/>
                </a:solidFill>
              </a:rPr>
              <a:t>Translation, audio, simple UI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8368" y="58704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E8B0"/>
                </a:solidFill>
              </a:rPr>
              <a:t>Not a doctor. Not a diagnosis. A safer way to understand the instructions already given.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NYC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 for a 2-day build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097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Keep the stack lean; cache a successful demo output as backup.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691640" y="2441448"/>
            <a:ext cx="2514600" cy="0"/>
          </a:xfrm>
          <a:prstGeom prst="line">
            <a:avLst/>
          </a:prstGeom>
          <a:noFill/>
          <a:ln w="25400">
            <a:solidFill>
              <a:srgbClr val="4CB6A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06240" y="2441448"/>
            <a:ext cx="2514600" cy="0"/>
          </a:xfrm>
          <a:prstGeom prst="line">
            <a:avLst/>
          </a:prstGeom>
          <a:noFill/>
          <a:ln w="25400">
            <a:solidFill>
              <a:srgbClr val="4CB6A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20840" y="2441448"/>
            <a:ext cx="2514600" cy="0"/>
          </a:xfrm>
          <a:prstGeom prst="line">
            <a:avLst/>
          </a:prstGeom>
          <a:noFill/>
          <a:ln w="25400">
            <a:solidFill>
              <a:srgbClr val="4CB6A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06240" y="2441448"/>
            <a:ext cx="0" cy="2084832"/>
          </a:xfrm>
          <a:prstGeom prst="line">
            <a:avLst/>
          </a:prstGeom>
          <a:noFill/>
          <a:ln w="25400">
            <a:solidFill>
              <a:srgbClr val="4CB6A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06240" y="4526280"/>
            <a:ext cx="2514600" cy="0"/>
          </a:xfrm>
          <a:prstGeom prst="line">
            <a:avLst/>
          </a:prstGeom>
          <a:noFill/>
          <a:ln w="25400">
            <a:solidFill>
              <a:srgbClr val="4CB6A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20840" y="4526280"/>
            <a:ext cx="-2514600" cy="-2084832"/>
          </a:xfrm>
          <a:prstGeom prst="line">
            <a:avLst/>
          </a:prstGeom>
          <a:noFill/>
          <a:ln w="25400">
            <a:solidFill>
              <a:srgbClr val="4CB6A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2029968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F3FBF9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2128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React / Next.js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Frontend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46120" y="2029968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22128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API Routes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Backend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760720" y="2029968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F3FBF9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22128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AI Model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Extraction + Translate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75320" y="2029968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22128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TTS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Audio Briefing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246120" y="4114800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F3FBF9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CarePlan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JSON Schema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760720" y="4114800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9788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Storage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63B3D"/>
                </a:solidFill>
              </a:rPr>
              <a:t>Mongo/Supabase/JSON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5760720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16B"/>
                </a:solidFill>
              </a:rPr>
              <a:t>Recommended demo stack: Next.js + API routes + Gemini/OpenAI + ElevenLabs/browser TTS + simple storage.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NYC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Three-person execution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097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Clear ownership keeps the scope realistic and deliverables on time.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74520" y="2084832"/>
            <a:ext cx="914400" cy="914400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23500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B3D"/>
                </a:solidFill>
              </a:rPr>
              <a:t>PSS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B3D"/>
                </a:solidFill>
              </a:rPr>
              <a:t>Pirtom Shil Supta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5935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6F"/>
                </a:solidFill>
              </a:rPr>
              <a:t>UI Designer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9776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Visual system, dashboard layout, safety states, slides, website visuals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23560" y="2084832"/>
            <a:ext cx="914400" cy="91440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3500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B3D"/>
                </a:solidFill>
              </a:rPr>
              <a:t>RH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246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B3D"/>
                </a:solidFill>
              </a:rPr>
              <a:t>Rahat Hossain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5935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6F"/>
                </a:solidFill>
              </a:rPr>
              <a:t>Backend Developer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9776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AI extraction, JSON schema, translation, audio API, GitHub README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82880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72600" y="2084832"/>
            <a:ext cx="914400" cy="9144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3500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B3D"/>
                </a:solidFill>
              </a:rPr>
              <a:t>IP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9640" y="3246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B3D"/>
                </a:solidFill>
              </a:rPr>
              <a:t>Israel Pina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49640" y="35935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6F"/>
                </a:solidFill>
              </a:rPr>
              <a:t>Frontend Designer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39776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Upload flow, care plan dashboard, language switcher, audio playback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08760" y="555955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Unknown fields: EMPLIDs and campus details can stay TBD until the final team form is completed.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NYC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deliverables 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097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</a:rPr>
              <a:t>Build the product and the submission package in parallel.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10149840" cy="0"/>
          </a:xfrm>
          <a:prstGeom prst="line">
            <a:avLst/>
          </a:prstGeom>
          <a:noFill/>
          <a:ln w="25400">
            <a:solidFill>
              <a:srgbClr val="E6EC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231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3B3D"/>
                </a:solidFill>
              </a:rPr>
              <a:t>Fri AM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288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Finalize MVP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Create repo + doc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1920240"/>
            <a:ext cx="365760" cy="365760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4231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3B3D"/>
                </a:solidFill>
              </a:rPr>
              <a:t>Fri PM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24912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Upload + extraction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Submit started links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15584" y="1920240"/>
            <a:ext cx="365760" cy="365760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24231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3B3D"/>
                </a:solidFill>
              </a:rPr>
              <a:t>Fri Night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66944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Translation + UI polish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Demo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57616" y="1920240"/>
            <a:ext cx="365760" cy="365760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9016" y="24231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3B3D"/>
                </a:solidFill>
              </a:rPr>
              <a:t>Sat AM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08976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Audio + safety flags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Bug fixes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899648" y="1920240"/>
            <a:ext cx="365760" cy="365760"/>
          </a:xfrm>
          <a:prstGeom prst="ellipse">
            <a:avLst/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71048" y="24231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3B3D"/>
                </a:solidFill>
              </a:rPr>
              <a:t>Sat PM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351008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Record video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Submit by 5 PM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4572000"/>
            <a:ext cx="9966960" cy="841248"/>
          </a:xfrm>
          <a:prstGeom prst="roundRect">
            <a:avLst>
              <a:gd name="adj" fmla="val 16304"/>
            </a:avLst>
          </a:prstGeom>
          <a:solidFill>
            <a:srgbClr val="F3FBF9"/>
          </a:solidFill>
          <a:ln w="12700">
            <a:solidFill>
              <a:srgbClr val="BDE2D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70432" y="4855464"/>
            <a:ext cx="945489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B3D"/>
                </a:solidFill>
              </a:rPr>
              <a:t>Submission package: Product Design Doc • Website • Google Slides • GitHub • &lt;5 minute video • BeMyApp signoff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3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65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8E"/>
                </a:solidFill>
              </a:rPr>
              <a:t>AI Innovation Challenge • 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prove impact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F4F0"/>
                </a:solidFill>
              </a:rPr>
              <a:t>Judges need to see both technical success and public-good value.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22402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242316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3B3D"/>
                </a:solidFill>
              </a:rPr>
              <a:t>Extraction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63B3D"/>
                </a:solidFill>
              </a:rPr>
              <a:t>accuracy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Compare AI output to expected sample answer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0440" y="2148840"/>
            <a:ext cx="22402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76472" y="242316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3B3D"/>
                </a:solidFill>
              </a:rPr>
              <a:t>Time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63B3D"/>
                </a:solidFill>
              </a:rPr>
              <a:t>saved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49040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Upload-to-care-plan in under 2 minutes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22402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242316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3B3D"/>
                </a:solidFill>
              </a:rPr>
              <a:t>Language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63B3D"/>
                </a:solidFill>
              </a:rPr>
              <a:t>access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Support 2–3 languages in demo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98280" y="2148840"/>
            <a:ext cx="22402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8E8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54312" y="242316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3B3D"/>
                </a:solidFill>
              </a:rPr>
              <a:t>Safety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63B3D"/>
                </a:solidFill>
              </a:rPr>
              <a:t>coverage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0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Low-confidence fields are flagged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97280" y="521208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E8B0"/>
                </a:solidFill>
              </a:rPr>
              <a:t>Social impact goal: help caregivers understand what to do, what to watch for, and what to verify.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ome_full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7315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NYC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85800" y="1417320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8F7F5"/>
                </a:solidFill>
              </a:rPr>
              <a:t>Turning confusing medical paperwork into care that families can understand.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13232" y="2834640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4CB6A8"/>
          </a:solidFill>
          <a:ln w="12700">
            <a:solidFill>
              <a:srgbClr val="4CB6A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3072384"/>
            <a:ext cx="44074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B3D"/>
                </a:solidFill>
              </a:rPr>
              <a:t>AI for Health &amp; Public Good • Software Track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60533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DEA"/>
                </a:solidFill>
              </a:rPr>
              <a:t>Pirtom Shil Supta • Rahat Hossain • Israel Pina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BMCC AI Innovation Challenge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Handoff NYC</dc:title>
  <dc:subject>AI Innovation Challenge slide deck</dc:subject>
  <dc:creator>Handoff NYC Team</dc:creator>
  <cp:lastModifiedBy>Handoff NYC Team</cp:lastModifiedBy>
  <cp:revision>1</cp:revision>
  <dcterms:created xsi:type="dcterms:W3CDTF">2026-04-24T22:44:01Z</dcterms:created>
  <dcterms:modified xsi:type="dcterms:W3CDTF">2026-04-24T22:44:01Z</dcterms:modified>
</cp:coreProperties>
</file>